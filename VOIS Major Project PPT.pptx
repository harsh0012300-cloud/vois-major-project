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28" autoAdjust="0"/>
    <p:restoredTop sz="95033" autoAdjust="0"/>
  </p:normalViewPr>
  <p:slideViewPr>
    <p:cSldViewPr snapToGrid="0">
      <p:cViewPr varScale="1">
        <p:scale>
          <a:sx n="83" d="100"/>
          <a:sy n="83" d="100"/>
        </p:scale>
        <p:origin x="600" y="8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harsh0012300-cloud/VOIS-MAJOR-PROJECT.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5774212" cy="861497"/>
          </a:xfrm>
        </p:spPr>
        <p:txBody>
          <a:bodyPr vert="horz" lIns="91440" tIns="45720" rIns="91440" bIns="45720" rtlCol="0" anchor="t">
            <a:normAutofit fontScale="92500"/>
          </a:bodyPr>
          <a:lstStyle/>
          <a:p>
            <a:pPr algn="r"/>
            <a:r>
              <a:rPr lang="en-US" b="0" dirty="0">
                <a:solidFill>
                  <a:schemeClr val="tx1"/>
                </a:solidFill>
              </a:rPr>
              <a:t>[Student Name- Harsh Sharma </a:t>
            </a:r>
            <a:endParaRPr lang="en-IN" b="0" dirty="0">
              <a:solidFill>
                <a:schemeClr val="tx1"/>
              </a:solidFill>
            </a:endParaRPr>
          </a:p>
          <a:p>
            <a:pPr algn="r"/>
            <a:r>
              <a:rPr lang="en-US" b="0" dirty="0">
                <a:solidFill>
                  <a:schemeClr val="tx1"/>
                </a:solidFill>
              </a:rPr>
              <a:t>College Name-Institute of Technology &amp; Science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Autofit/>
          </a:bodyPr>
          <a:lstStyle/>
          <a:p>
            <a:r>
              <a:rPr lang="en-GB" sz="2400" dirty="0"/>
              <a:t>Project Title – </a:t>
            </a:r>
            <a:r>
              <a:rPr lang="en-US" sz="2400" dirty="0"/>
              <a:t>Seasonal Agriculture Performance Data Analytics</a:t>
            </a:r>
            <a:endParaRPr lang="en-IN" sz="24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1200329"/>
          </a:xfrm>
          <a:prstGeom prst="rect">
            <a:avLst/>
          </a:prstGeom>
          <a:noFill/>
        </p:spPr>
        <p:txBody>
          <a:bodyPr wrap="square" rtlCol="0">
            <a:spAutoFit/>
          </a:bodyPr>
          <a:lstStyle/>
          <a:p>
            <a:r>
              <a:rPr lang="en-US" b="1" dirty="0"/>
              <a:t>AICTE STU ID : </a:t>
            </a:r>
            <a:r>
              <a:rPr lang="en-GB" sz="1800" dirty="0">
                <a:solidFill>
                  <a:schemeClr val="tx1"/>
                </a:solidFill>
                <a:latin typeface="Arial" panose="020B0604020202020204" pitchFamily="34" charset="0"/>
                <a:cs typeface="Arial" panose="020B0604020202020204" pitchFamily="34" charset="0"/>
              </a:rPr>
              <a:t>STU666a218d488df1718231437</a:t>
            </a:r>
          </a:p>
          <a:p>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rot="10800000" flipV="1">
            <a:off x="660399" y="151447"/>
            <a:ext cx="2581565" cy="726470"/>
          </a:xfrm>
        </p:spPr>
        <p:txBody>
          <a:bodyPr>
            <a:normAutofit fontScale="90000"/>
          </a:bodyPr>
          <a:lstStyle/>
          <a:p>
            <a:r>
              <a:rPr lang="en-GB" sz="2000" dirty="0"/>
              <a:t>Project Description</a:t>
            </a:r>
            <a:br>
              <a:rPr lang="en-GB" dirty="0"/>
            </a:br>
            <a:br>
              <a:rPr lang="en-GB" dirty="0"/>
            </a:br>
            <a:br>
              <a:rPr lang="en-GB" sz="1300" dirty="0"/>
            </a:br>
            <a:br>
              <a:rPr lang="en-GB" sz="1300" dirty="0"/>
            </a:br>
            <a:br>
              <a:rPr lang="en-GB" sz="1300" dirty="0"/>
            </a:br>
            <a:br>
              <a:rPr lang="en-GB" sz="1300" dirty="0"/>
            </a:br>
            <a:endParaRPr lang="en-IN" sz="13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Rectangle 4">
            <a:extLst>
              <a:ext uri="{FF2B5EF4-FFF2-40B4-BE49-F238E27FC236}">
                <a16:creationId xmlns:a16="http://schemas.microsoft.com/office/drawing/2014/main" id="{5A5D048D-CEDC-AD43-3329-CEED935264A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This project evaluates how seasonal variations directly impact farm-level performance and financial outcomes across India. Working with a dataset of 4,000 individual farm records, the goal is to surface practical patterns in crop yield, resource usage, and profitability across different growing cycles using pure exploratory data analysis—no predictive machine learning or complex dashboards required.</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Google Sans Text"/>
              </a:rPr>
              <a:t>Project Overview &amp; Objectives</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Agricultural success fluctuates dramatically with climate changes, resource availability, and input management. This project breaks down those relationships across the Kharif, Rabi, and Zaid cropping seasons to understand what actually drives productivity and profit on the ground.</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Data Quality &amp; Preparation:</a:t>
            </a:r>
            <a:r>
              <a:rPr kumimoji="0" lang="en-US" altLang="en-US" sz="1800" b="0" i="0" u="none" strike="noStrike" cap="none" normalizeH="0" baseline="0">
                <a:ln>
                  <a:noFill/>
                </a:ln>
                <a:solidFill>
                  <a:schemeClr val="tx1"/>
                </a:solidFill>
                <a:effectLst/>
                <a:latin typeface="Google Sans Text"/>
              </a:rPr>
              <a:t> Clean missing values in critical columns like rainfall, soil moisture, and crop yield to ensure accurate baseline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Seasonal Performance Breakdown:</a:t>
            </a:r>
            <a:r>
              <a:rPr kumimoji="0" lang="en-US" altLang="en-US" sz="1800" b="0" i="0" u="none" strike="noStrike" cap="none" normalizeH="0" baseline="0">
                <a:ln>
                  <a:noFill/>
                </a:ln>
                <a:solidFill>
                  <a:schemeClr val="tx1"/>
                </a:solidFill>
                <a:effectLst/>
                <a:latin typeface="Google Sans Text"/>
              </a:rPr>
              <a:t> Compare total crop yields, production volume, and market revenues across different seasons to highlight seasonal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Input Interdependence Analysis:</a:t>
            </a:r>
            <a:r>
              <a:rPr kumimoji="0" lang="en-US" altLang="en-US" sz="1800" b="0" i="0" u="none" strike="noStrike" cap="none" normalizeH="0" baseline="0">
                <a:ln>
                  <a:noFill/>
                </a:ln>
                <a:solidFill>
                  <a:schemeClr val="tx1"/>
                </a:solidFill>
                <a:effectLst/>
                <a:latin typeface="Google Sans Text"/>
              </a:rPr>
              <a:t> Measure how environmental conditions (temperature, rainfall, sunlight) and soil nutrients (nitrogen, phosphorus, potassium) interact with farm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Resource &amp; Profitability Assessment:</a:t>
            </a:r>
            <a:r>
              <a:rPr kumimoji="0" lang="en-US" altLang="en-US" sz="1800" b="0" i="0" u="none" strike="noStrike" cap="none" normalizeH="0" baseline="0">
                <a:ln>
                  <a:noFill/>
                </a:ln>
                <a:solidFill>
                  <a:schemeClr val="tx1"/>
                </a:solidFill>
                <a:effectLst/>
                <a:latin typeface="Google Sans Text"/>
              </a:rPr>
              <a:t> Evaluate the financial return against water consumption efficiency across drip, flood, sprinkler, and rainfed irrigation systems.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Google Sans Text"/>
              </a:rPr>
              <a:t>Dataset &amp; Key Metrics</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The analysis is built on </a:t>
            </a:r>
            <a:r>
              <a:rPr kumimoji="0" lang="en-US" altLang="en-US" sz="1000" b="0" i="0" u="none" strike="noStrike" cap="none" normalizeH="0" baseline="0">
                <a:ln>
                  <a:noFill/>
                </a:ln>
                <a:solidFill>
                  <a:schemeClr val="tx1"/>
                </a:solidFill>
                <a:effectLst/>
                <a:latin typeface="Google Sans Text"/>
              </a:rPr>
              <a:t>seasonal_agriculture_performance_dataset.csv</a:t>
            </a:r>
            <a:r>
              <a:rPr kumimoji="0" lang="en-US" altLang="en-US" sz="800" b="0" i="0" u="none" strike="noStrike" cap="none" normalizeH="0" baseline="0">
                <a:ln>
                  <a:noFill/>
                </a:ln>
                <a:solidFill>
                  <a:schemeClr val="tx1"/>
                </a:solidFill>
                <a:effectLst/>
                <a:latin typeface="Google Sans Text"/>
              </a:rPr>
              <a:t>, comprising 4,000 records across 28 distinct numerical and categorical variables:</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Location &amp; Categorical Features:</a:t>
            </a:r>
            <a:r>
              <a:rPr kumimoji="0" lang="en-US" altLang="en-US" sz="1800" b="0" i="0" u="none" strike="noStrike" cap="none" normalizeH="0" baseline="0">
                <a:ln>
                  <a:noFill/>
                </a:ln>
                <a:solidFill>
                  <a:schemeClr val="tx1"/>
                </a:solidFill>
                <a:effectLst/>
                <a:latin typeface="Google Sans Text"/>
              </a:rPr>
              <a:t> State, District, Crop (Wheat, Rice, Maize, Pulses, Cotton, Chilli), Season, and Irrigation 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Environmental &amp; Soil Dynamics:</a:t>
            </a:r>
            <a:r>
              <a:rPr kumimoji="0" lang="en-US" altLang="en-US" sz="1800" b="0" i="0" u="none" strike="noStrike" cap="none" normalizeH="0" baseline="0">
                <a:ln>
                  <a:noFill/>
                </a:ln>
                <a:solidFill>
                  <a:schemeClr val="tx1"/>
                </a:solidFill>
                <a:effectLst/>
                <a:latin typeface="Google Sans Text"/>
              </a:rPr>
              <a:t> Rainfall (mm), Average Temperature (°C), Humidity (%), Daily Sunlight Hours, Soil pH, Soil Moisture (%), and N-P-K nutrient ratios.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Operational Inputs &amp; Financial Outputs:</a:t>
            </a:r>
            <a:r>
              <a:rPr kumimoji="0" lang="en-US" altLang="en-US" sz="1800" b="0" i="0" u="none" strike="noStrike" cap="none" normalizeH="0" baseline="0">
                <a:ln>
                  <a:noFill/>
                </a:ln>
                <a:solidFill>
                  <a:schemeClr val="tx1"/>
                </a:solidFill>
                <a:effectLst/>
                <a:latin typeface="Google Sans Text"/>
              </a:rPr>
              <a:t> Fertilizer and pesticide application rates, Seed Quality Score, Yield (Tonnes/Ha), Total Costs, Revenue, Net Profit (INR), Water Used ($m^3$), Water Efficiency, and Pest Risk percentages.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Google Sans Text"/>
              </a:rPr>
              <a:t>Tools &amp; Workflow</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The analysis is implemented in Python, leveraging Pandas and NumPy for data manipulation and statistical summaries, alongside Matplotlib and Seaborn for visual exploration. The workflow progresses from univariate distribution checks (identifying outliers in costs and yield spikes) to bivariate seasonal groupings, ending with multivariate correlation analysis to isolate the primary levers of high farm profitability.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22BECE18-838D-59F6-5B77-42A354A857B5}"/>
              </a:ext>
            </a:extLst>
          </p:cNvPr>
          <p:cNvSpPr>
            <a:spLocks noGrp="1" noChangeArrowheads="1"/>
          </p:cNvSpPr>
          <p:nvPr>
            <p:ph type="body" sz="quarter" idx="12"/>
          </p:nvPr>
        </p:nvSpPr>
        <p:spPr bwMode="auto">
          <a:xfrm>
            <a:off x="720725" y="3224465"/>
            <a:ext cx="13570446" cy="1523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Google Sans Text"/>
              </a:rPr>
              <a:t>The end users of this project fall into two main categories based on the notebook's technical scope and agricultural focus: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Google Sans Text"/>
              </a:rPr>
              <a:t>Primary Technical Users (Notebook Execution)</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Google Sans Text"/>
              </a:rPr>
              <a:t>Students &amp; Data Analytics Learners:</a:t>
            </a:r>
            <a:r>
              <a:rPr kumimoji="0" lang="en-US" altLang="en-US" sz="1200" b="0" i="0" u="none" strike="noStrike" cap="none" normalizeH="0" baseline="0" dirty="0">
                <a:ln>
                  <a:noFill/>
                </a:ln>
                <a:solidFill>
                  <a:schemeClr val="tx1"/>
                </a:solidFill>
                <a:effectLst/>
                <a:latin typeface="Google Sans Text"/>
              </a:rPr>
              <a:t> The direct hands-on users responsible for loading the dataset, conducting exploratory data analysis, and building visual, evidence-based reports.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Google Sans Text"/>
              </a:rPr>
              <a:t>Business &amp; Stakeholder End Users (Insight Consumers)</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Google Sans Text"/>
              </a:rPr>
              <a:t>Farmers &amp; Farm Managers:</a:t>
            </a:r>
            <a:r>
              <a:rPr kumimoji="0" lang="en-US" altLang="en-US" sz="1200" b="0" i="0" u="none" strike="noStrike" cap="none" normalizeH="0" baseline="0" dirty="0">
                <a:ln>
                  <a:noFill/>
                </a:ln>
                <a:solidFill>
                  <a:schemeClr val="tx1"/>
                </a:solidFill>
                <a:effectLst/>
                <a:latin typeface="Google Sans Text"/>
              </a:rPr>
              <a:t> Benefit from data-driven findings on seasonal yield variations, optimal fertilizer/pesticide usage, water efficiency, and profitability to plan cropping cycles effectively.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Google Sans Text"/>
              </a:rPr>
              <a:t>Agricultural Policy Makers &amp; Government Agencies:</a:t>
            </a:r>
            <a:r>
              <a:rPr kumimoji="0" lang="en-US" altLang="en-US" sz="1200" b="0" i="0" u="none" strike="noStrike" cap="none" normalizeH="0" baseline="0" dirty="0">
                <a:ln>
                  <a:noFill/>
                </a:ln>
                <a:solidFill>
                  <a:schemeClr val="tx1"/>
                </a:solidFill>
                <a:effectLst/>
                <a:latin typeface="Google Sans Text"/>
              </a:rPr>
              <a:t> Rely on regional performance patterns, soil health data, and water-use insights to guide irrigation planning, subsidy distribution, and pest management policies.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Google Sans Text"/>
              </a:rPr>
              <a:t>Agribusinesses &amp; Financial Institutions:</a:t>
            </a:r>
            <a:r>
              <a:rPr kumimoji="0" lang="en-US" altLang="en-US" sz="1200" b="0" i="0" u="none" strike="noStrike" cap="none" normalizeH="0" baseline="0" dirty="0">
                <a:ln>
                  <a:noFill/>
                </a:ln>
                <a:solidFill>
                  <a:schemeClr val="tx1"/>
                </a:solidFill>
                <a:effectLst/>
                <a:latin typeface="Google Sans Text"/>
              </a:rPr>
              <a:t> Use insights into crop market prices, input costs, disease risks, and profit margins to optimize supply chains, agricultural loans, and crop insurance products.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E1D510B3-02E4-961C-19C0-3DDBC3D8FB9E}"/>
              </a:ext>
            </a:extLst>
          </p:cNvPr>
          <p:cNvSpPr>
            <a:spLocks noGrp="1" noChangeArrowheads="1"/>
          </p:cNvSpPr>
          <p:nvPr>
            <p:ph type="body" sz="quarter" idx="12"/>
          </p:nvPr>
        </p:nvSpPr>
        <p:spPr bwMode="auto">
          <a:xfrm>
            <a:off x="390525" y="2922602"/>
            <a:ext cx="10873426"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Google Sans Text"/>
              </a:rPr>
              <a:t>Core Language Used:</a:t>
            </a:r>
            <a:r>
              <a:rPr kumimoji="0" lang="en-US" altLang="en-US" sz="3600" b="0" i="0" u="none" strike="noStrike" cap="none" normalizeH="0" baseline="0" dirty="0">
                <a:ln>
                  <a:noFill/>
                </a:ln>
                <a:solidFill>
                  <a:schemeClr val="tx1"/>
                </a:solidFill>
                <a:effectLst/>
                <a:latin typeface="Google Sans Text"/>
              </a:rPr>
              <a:t> Python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Google Sans Text"/>
              </a:rPr>
              <a:t>Data Manipulation &amp; Analysis:</a:t>
            </a:r>
            <a:r>
              <a:rPr kumimoji="0" lang="en-US" altLang="en-US" sz="3600" b="0" i="0" u="none" strike="noStrike" cap="none" normalizeH="0" baseline="0" dirty="0">
                <a:ln>
                  <a:noFill/>
                </a:ln>
                <a:solidFill>
                  <a:schemeClr val="tx1"/>
                </a:solidFill>
                <a:effectLst/>
                <a:latin typeface="Google Sans Text"/>
              </a:rPr>
              <a:t> Pandas, NumPy </a:t>
            </a:r>
            <a:r>
              <a:rPr kumimoji="0" lang="en-US" altLang="en-US" sz="3600" b="0" i="0" u="none" strike="noStrike" cap="none" normalizeH="0" baseline="0" dirty="0" err="1">
                <a:ln>
                  <a:noFill/>
                </a:ln>
                <a:solidFill>
                  <a:schemeClr val="tx1"/>
                </a:solidFill>
                <a:effectLst/>
                <a:latin typeface="Google Sans Text"/>
              </a:rPr>
              <a:t>Liabrary</a:t>
            </a:r>
            <a:endParaRPr kumimoji="0" lang="en-US" altLang="en-US" sz="3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Google Sans Text"/>
              </a:rPr>
              <a:t>Data Visualization:</a:t>
            </a:r>
            <a:r>
              <a:rPr kumimoji="0" lang="en-US" altLang="en-US" sz="3600" b="0" i="0" u="none" strike="noStrike" cap="none" normalizeH="0" baseline="0" dirty="0">
                <a:ln>
                  <a:noFill/>
                </a:ln>
                <a:solidFill>
                  <a:schemeClr val="tx1"/>
                </a:solidFill>
                <a:effectLst/>
                <a:latin typeface="Google Sans Text"/>
              </a:rPr>
              <a:t> Matplotlib, Seaborn </a:t>
            </a:r>
            <a:r>
              <a:rPr kumimoji="0" lang="en-US" altLang="en-US" sz="3600" b="0" i="0" u="none" strike="noStrike" cap="none" normalizeH="0" baseline="0" dirty="0" err="1">
                <a:ln>
                  <a:noFill/>
                </a:ln>
                <a:solidFill>
                  <a:schemeClr val="tx1"/>
                </a:solidFill>
                <a:effectLst/>
                <a:latin typeface="Google Sans Text"/>
              </a:rPr>
              <a:t>Liabrary</a:t>
            </a:r>
            <a:endParaRPr kumimoji="0" lang="en-US" altLang="en-US" sz="3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Google Sans Text"/>
              </a:rPr>
              <a:t>Execution Environment:</a:t>
            </a:r>
            <a:r>
              <a:rPr lang="en-US" altLang="en-US" sz="3600" dirty="0">
                <a:solidFill>
                  <a:schemeClr val="tx1"/>
                </a:solidFill>
                <a:latin typeface="Google Sans Text"/>
              </a:rPr>
              <a:t> </a:t>
            </a:r>
            <a:r>
              <a:rPr kumimoji="0" lang="en-US" altLang="en-US" sz="3600" b="0" i="0" u="none" strike="noStrike" cap="none" normalizeH="0" baseline="0" dirty="0" err="1">
                <a:ln>
                  <a:noFill/>
                </a:ln>
                <a:solidFill>
                  <a:schemeClr val="tx1"/>
                </a:solidFill>
                <a:effectLst/>
                <a:latin typeface="Google Sans Text"/>
              </a:rPr>
              <a:t>Jupyter</a:t>
            </a:r>
            <a:r>
              <a:rPr kumimoji="0" lang="en-US" altLang="en-US" sz="3600" b="0" i="0" u="none" strike="noStrike" cap="none" normalizeH="0" baseline="0" dirty="0">
                <a:ln>
                  <a:noFill/>
                </a:ln>
                <a:solidFill>
                  <a:schemeClr val="tx1"/>
                </a:solidFill>
                <a:effectLst/>
                <a:latin typeface="Google Sans Text"/>
              </a:rPr>
              <a:t> Notebook IDE</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a:p>
            <a:endParaRPr lang="en-GB" sz="2000" dirty="0"/>
          </a:p>
          <a:p>
            <a:endParaRPr lang="en-GB" sz="1050" dirty="0">
              <a:latin typeface="Arial" panose="020B0604020202020204" pitchFamily="34" charset="0"/>
              <a:cs typeface="Arial" panose="020B0604020202020204" pitchFamily="34" charset="0"/>
            </a:endParaRP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ectangle 2">
            <a:extLst>
              <a:ext uri="{FF2B5EF4-FFF2-40B4-BE49-F238E27FC236}">
                <a16:creationId xmlns:a16="http://schemas.microsoft.com/office/drawing/2014/main" id="{B67F9AC2-2E75-D0FD-64BA-2674E62302FA}"/>
              </a:ext>
            </a:extLst>
          </p:cNvPr>
          <p:cNvSpPr>
            <a:spLocks noChangeArrowheads="1"/>
          </p:cNvSpPr>
          <p:nvPr/>
        </p:nvSpPr>
        <p:spPr bwMode="auto">
          <a:xfrm>
            <a:off x="0" y="-8806236"/>
            <a:ext cx="14697959" cy="17612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8088" tIns="0" rIns="-38088"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1F1F1F"/>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050" dirty="0">
                <a:solidFill>
                  <a:srgbClr val="1F1F1F"/>
                </a:solidFill>
                <a:latin typeface="Google Sans Text"/>
              </a:rPr>
              <a:t>   </a:t>
            </a:r>
            <a:r>
              <a:rPr kumimoji="0" lang="en-US" altLang="en-US" sz="1050" b="0" i="0" u="none" strike="noStrike" cap="none" normalizeH="0" baseline="0" dirty="0">
                <a:ln>
                  <a:noFill/>
                </a:ln>
                <a:solidFill>
                  <a:srgbClr val="1F1F1F"/>
                </a:solidFill>
                <a:effectLst/>
                <a:latin typeface="Google Sans Text"/>
              </a:rPr>
              <a:t>The dataset contains 4,000 agricultural farm records across 28 variables designed to analyze seasonal farming performance in India.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rgbClr val="1F1F1F"/>
                </a:solidFill>
                <a:effectLst/>
                <a:latin typeface="Google Sans Text"/>
              </a:rPr>
              <a:t>Dataset Overview</a:t>
            </a: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Scale:</a:t>
            </a:r>
            <a:r>
              <a:rPr kumimoji="0" lang="en-US" altLang="en-US" sz="1050" b="0" i="0" u="none" strike="noStrike" cap="none" normalizeH="0" baseline="0" dirty="0">
                <a:ln>
                  <a:noFill/>
                </a:ln>
                <a:solidFill>
                  <a:srgbClr val="1F1F1F"/>
                </a:solidFill>
                <a:effectLst/>
                <a:latin typeface="Google Sans Text"/>
              </a:rPr>
              <a:t> Tracks 4,000 individual farm records (</a:t>
            </a:r>
            <a:r>
              <a:rPr kumimoji="0" lang="en-US" altLang="en-US" sz="1050" b="0" i="0" u="none" strike="noStrike" cap="none" normalizeH="0" baseline="0" dirty="0" err="1">
                <a:ln>
                  <a:noFill/>
                </a:ln>
                <a:solidFill>
                  <a:srgbClr val="1F1F1F"/>
                </a:solidFill>
                <a:effectLst/>
                <a:latin typeface="Google Sans Text"/>
              </a:rPr>
              <a:t>Farm_ID</a:t>
            </a:r>
            <a:r>
              <a:rPr kumimoji="0" lang="en-US" altLang="en-US" sz="1050" b="0" i="0" u="none" strike="noStrike" cap="none" normalizeH="0" baseline="0" dirty="0">
                <a:ln>
                  <a:noFill/>
                </a:ln>
                <a:solidFill>
                  <a:srgbClr val="1F1F1F"/>
                </a:solidFill>
                <a:effectLst/>
                <a:latin typeface="Google Sans Text"/>
              </a:rPr>
              <a:t>) spanning 8 States and 10 Districts.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Feature Scope:</a:t>
            </a:r>
            <a:r>
              <a:rPr kumimoji="0" lang="en-US" altLang="en-US" sz="1050" b="0" i="0" u="none" strike="noStrike" cap="none" normalizeH="0" baseline="0" dirty="0">
                <a:ln>
                  <a:noFill/>
                </a:ln>
                <a:solidFill>
                  <a:srgbClr val="1F1F1F"/>
                </a:solidFill>
                <a:effectLst/>
                <a:latin typeface="Google Sans Text"/>
              </a:rPr>
              <a:t> Captures environmental metrics (rainfall, soil pH, moisture), farm inputs (fertilizer, seed quality, irrigation), and financial outcomes (costs, revenue, profit).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rgbClr val="1F1F1F"/>
                </a:solidFill>
                <a:effectLst/>
                <a:latin typeface="Google Sans Text"/>
              </a:rPr>
              <a:t>Data Quality &amp; Missing Values</a:t>
            </a: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Completeness:</a:t>
            </a:r>
            <a:r>
              <a:rPr kumimoji="0" lang="en-US" altLang="en-US" sz="1050" b="0" i="0" u="none" strike="noStrike" cap="none" normalizeH="0" baseline="0" dirty="0">
                <a:ln>
                  <a:noFill/>
                </a:ln>
                <a:solidFill>
                  <a:srgbClr val="1F1F1F"/>
                </a:solidFill>
                <a:effectLst/>
                <a:latin typeface="Google Sans Text"/>
              </a:rPr>
              <a:t> 25 out of 28 columns have complete data with no missing entries.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Missing Data:</a:t>
            </a:r>
            <a:r>
              <a:rPr kumimoji="0" lang="en-US" altLang="en-US" sz="1050" b="0" i="0" u="none" strike="noStrike" cap="none" normalizeH="0" baseline="0" dirty="0">
                <a:ln>
                  <a:noFill/>
                </a:ln>
                <a:solidFill>
                  <a:srgbClr val="1F1F1F"/>
                </a:solidFill>
                <a:effectLst/>
                <a:latin typeface="Google Sans Text"/>
              </a:rPr>
              <a:t> Small gaps exist in </a:t>
            </a:r>
            <a:r>
              <a:rPr kumimoji="0" lang="en-US" altLang="en-US" sz="1050" b="0" i="0" u="none" strike="noStrike" cap="none" normalizeH="0" baseline="0" dirty="0" err="1">
                <a:ln>
                  <a:noFill/>
                </a:ln>
                <a:solidFill>
                  <a:srgbClr val="1F1F1F"/>
                </a:solidFill>
                <a:effectLst/>
                <a:latin typeface="Google Sans Text"/>
              </a:rPr>
              <a:t>Rainfall_mm</a:t>
            </a:r>
            <a:r>
              <a:rPr kumimoji="0" lang="en-US" altLang="en-US" sz="1050" b="0" i="0" u="none" strike="noStrike" cap="none" normalizeH="0" baseline="0" dirty="0">
                <a:ln>
                  <a:noFill/>
                </a:ln>
                <a:solidFill>
                  <a:srgbClr val="1F1F1F"/>
                </a:solidFill>
                <a:effectLst/>
                <a:latin typeface="Google Sans Text"/>
              </a:rPr>
              <a:t> (48 missing), </a:t>
            </a:r>
            <a:r>
              <a:rPr kumimoji="0" lang="en-US" altLang="en-US" sz="1050" b="0" i="0" u="none" strike="noStrike" cap="none" normalizeH="0" baseline="0" dirty="0" err="1">
                <a:ln>
                  <a:noFill/>
                </a:ln>
                <a:solidFill>
                  <a:srgbClr val="1F1F1F"/>
                </a:solidFill>
                <a:effectLst/>
                <a:latin typeface="Google Sans Text"/>
              </a:rPr>
              <a:t>Soil_Moisture_pct</a:t>
            </a:r>
            <a:r>
              <a:rPr kumimoji="0" lang="en-US" altLang="en-US" sz="1050" b="0" i="0" u="none" strike="noStrike" cap="none" normalizeH="0" baseline="0" dirty="0">
                <a:ln>
                  <a:noFill/>
                </a:ln>
                <a:solidFill>
                  <a:srgbClr val="1F1F1F"/>
                </a:solidFill>
                <a:effectLst/>
                <a:latin typeface="Google Sans Text"/>
              </a:rPr>
              <a:t> (40 missing), and </a:t>
            </a:r>
            <a:r>
              <a:rPr kumimoji="0" lang="en-US" altLang="en-US" sz="1050" b="0" i="0" u="none" strike="noStrike" cap="none" normalizeH="0" baseline="0" dirty="0" err="1">
                <a:ln>
                  <a:noFill/>
                </a:ln>
                <a:solidFill>
                  <a:srgbClr val="1F1F1F"/>
                </a:solidFill>
                <a:effectLst/>
                <a:latin typeface="Google Sans Text"/>
              </a:rPr>
              <a:t>Yield_Tonnes_Ha</a:t>
            </a:r>
            <a:r>
              <a:rPr kumimoji="0" lang="en-US" altLang="en-US" sz="1050" b="0" i="0" u="none" strike="noStrike" cap="none" normalizeH="0" baseline="0" dirty="0">
                <a:ln>
                  <a:noFill/>
                </a:ln>
                <a:solidFill>
                  <a:srgbClr val="1F1F1F"/>
                </a:solidFill>
                <a:effectLst/>
                <a:latin typeface="Google Sans Text"/>
              </a:rPr>
              <a:t> (32 missing).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rgbClr val="1F1F1F"/>
                </a:solidFill>
                <a:effectLst/>
                <a:latin typeface="Google Sans Text"/>
              </a:rPr>
              <a:t>Categorical Highlights</a:t>
            </a: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Seasons:</a:t>
            </a:r>
            <a:r>
              <a:rPr kumimoji="0" lang="en-US" altLang="en-US" sz="1050" b="0" i="0" u="none" strike="noStrike" cap="none" normalizeH="0" baseline="0" dirty="0">
                <a:ln>
                  <a:noFill/>
                </a:ln>
                <a:solidFill>
                  <a:srgbClr val="1F1F1F"/>
                </a:solidFill>
                <a:effectLst/>
                <a:latin typeface="Google Sans Text"/>
              </a:rPr>
              <a:t> Covers 3 farming seasons, with Kharif being the most frequent (1,779 farms).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Crops:</a:t>
            </a:r>
            <a:r>
              <a:rPr kumimoji="0" lang="en-US" altLang="en-US" sz="1050" b="0" i="0" u="none" strike="noStrike" cap="none" normalizeH="0" baseline="0" dirty="0">
                <a:ln>
                  <a:noFill/>
                </a:ln>
                <a:solidFill>
                  <a:srgbClr val="1F1F1F"/>
                </a:solidFill>
                <a:effectLst/>
                <a:latin typeface="Google Sans Text"/>
              </a:rPr>
              <a:t> Evaluates 8 crop types, led by Rice as the most sampled crop (690 farms).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Geography &amp; Irrigation:</a:t>
            </a:r>
            <a:r>
              <a:rPr kumimoji="0" lang="en-US" altLang="en-US" sz="1050" b="0" i="0" u="none" strike="noStrike" cap="none" normalizeH="0" baseline="0" dirty="0">
                <a:ln>
                  <a:noFill/>
                </a:ln>
                <a:solidFill>
                  <a:srgbClr val="1F1F1F"/>
                </a:solidFill>
                <a:effectLst/>
                <a:latin typeface="Google Sans Text"/>
              </a:rPr>
              <a:t> Andhra Pradesh is the most frequent state recorded (529 farms), and Flood irrigation is the most common watering technique (1,310 farms).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rgbClr val="1F1F1F"/>
                </a:solidFill>
                <a:effectLst/>
                <a:latin typeface="Google Sans Text"/>
              </a:rPr>
              <a:t>Key Statistical Averages</a:t>
            </a: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Farm Size:</a:t>
            </a:r>
            <a:r>
              <a:rPr kumimoji="0" lang="en-US" altLang="en-US" sz="1050" b="0" i="0" u="none" strike="noStrike" cap="none" normalizeH="0" baseline="0" dirty="0">
                <a:ln>
                  <a:noFill/>
                </a:ln>
                <a:solidFill>
                  <a:srgbClr val="1F1F1F"/>
                </a:solidFill>
                <a:effectLst/>
                <a:latin typeface="Google Sans Text"/>
              </a:rPr>
              <a:t> Averages 7.89 hectares, ranging from 0.50 to 15.00 hectares.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Climate Conditions:</a:t>
            </a:r>
            <a:r>
              <a:rPr kumimoji="0" lang="en-US" altLang="en-US" sz="1050" b="0" i="0" u="none" strike="noStrike" cap="none" normalizeH="0" baseline="0" dirty="0">
                <a:ln>
                  <a:noFill/>
                </a:ln>
                <a:solidFill>
                  <a:srgbClr val="1F1F1F"/>
                </a:solidFill>
                <a:effectLst/>
                <a:latin typeface="Google Sans Text"/>
              </a:rPr>
              <a:t> Mean rainfall is 601.15 mm, average temperature is 26.82°C, and average humidity is 63.21%.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Yield &amp; Output:</a:t>
            </a:r>
            <a:r>
              <a:rPr kumimoji="0" lang="en-US" altLang="en-US" sz="1050" b="0" i="0" u="none" strike="noStrike" cap="none" normalizeH="0" baseline="0" dirty="0">
                <a:ln>
                  <a:noFill/>
                </a:ln>
                <a:solidFill>
                  <a:srgbClr val="1F1F1F"/>
                </a:solidFill>
                <a:effectLst/>
                <a:latin typeface="Google Sans Text"/>
              </a:rPr>
              <a:t> Average yield is 5.27 </a:t>
            </a:r>
            <a:r>
              <a:rPr kumimoji="0" lang="en-US" altLang="en-US" sz="1050" b="0" i="0" u="none" strike="noStrike" cap="none" normalizeH="0" baseline="0" dirty="0" err="1">
                <a:ln>
                  <a:noFill/>
                </a:ln>
                <a:solidFill>
                  <a:srgbClr val="1F1F1F"/>
                </a:solidFill>
                <a:effectLst/>
                <a:latin typeface="Google Sans Text"/>
              </a:rPr>
              <a:t>tonnes</a:t>
            </a:r>
            <a:r>
              <a:rPr kumimoji="0" lang="en-US" altLang="en-US" sz="1050" b="0" i="0" u="none" strike="noStrike" cap="none" normalizeH="0" baseline="0" dirty="0">
                <a:ln>
                  <a:noFill/>
                </a:ln>
                <a:solidFill>
                  <a:srgbClr val="1F1F1F"/>
                </a:solidFill>
                <a:effectLst/>
                <a:latin typeface="Google Sans Text"/>
              </a:rPr>
              <a:t> per hectare, driving an average overall production of 43.25 </a:t>
            </a:r>
            <a:r>
              <a:rPr kumimoji="0" lang="en-US" altLang="en-US" sz="1050" b="0" i="0" u="none" strike="noStrike" cap="none" normalizeH="0" baseline="0" dirty="0" err="1">
                <a:ln>
                  <a:noFill/>
                </a:ln>
                <a:solidFill>
                  <a:srgbClr val="1F1F1F"/>
                </a:solidFill>
                <a:effectLst/>
                <a:latin typeface="Google Sans Text"/>
              </a:rPr>
              <a:t>tonnes</a:t>
            </a:r>
            <a:r>
              <a:rPr kumimoji="0" lang="en-US" altLang="en-US" sz="1050" b="0" i="0" u="none" strike="noStrike" cap="none" normalizeH="0" baseline="0" dirty="0">
                <a:ln>
                  <a:noFill/>
                </a:ln>
                <a:solidFill>
                  <a:srgbClr val="1F1F1F"/>
                </a:solidFill>
                <a:effectLst/>
                <a:latin typeface="Google Sans Text"/>
              </a:rPr>
              <a:t> per farm.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rgbClr val="1F1F1F"/>
                </a:solidFill>
                <a:effectLst/>
                <a:latin typeface="Google Sans Text"/>
              </a:rPr>
            </a:br>
            <a:endParaRPr kumimoji="0" lang="en-US" altLang="en-US" sz="105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rgbClr val="1F1F1F"/>
                </a:solidFill>
                <a:effectLst/>
                <a:latin typeface="Google Sans Text"/>
              </a:rPr>
              <a:t>Financial Profile:</a:t>
            </a:r>
            <a:r>
              <a:rPr kumimoji="0" lang="en-US" altLang="en-US" sz="1050" b="0" i="0" u="none" strike="noStrike" cap="none" normalizeH="0" baseline="0" dirty="0">
                <a:ln>
                  <a:noFill/>
                </a:ln>
                <a:solidFill>
                  <a:srgbClr val="1F1F1F"/>
                </a:solidFill>
                <a:effectLst/>
                <a:latin typeface="Google Sans Text"/>
              </a:rPr>
              <a:t> Mean revenue per farm is ₹637,860 against average costs of ₹526,304, yielding an average profit of ₹111,556. However, median profit is significantly lower at ₹3,673, indicating severe financial distribution skew and profitability variations across farms.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descr="A screenshot of a computer&#10;&#10;AI-generated content may be incorrect.">
            <a:extLst>
              <a:ext uri="{FF2B5EF4-FFF2-40B4-BE49-F238E27FC236}">
                <a16:creationId xmlns:a16="http://schemas.microsoft.com/office/drawing/2014/main" id="{437B21AA-8C24-EFB0-8CCB-328A1581F090}"/>
              </a:ext>
            </a:extLst>
          </p:cNvPr>
          <p:cNvPicPr>
            <a:picLocks noChangeAspect="1"/>
          </p:cNvPicPr>
          <p:nvPr/>
        </p:nvPicPr>
        <p:blipFill>
          <a:blip r:embed="rId3"/>
          <a:stretch>
            <a:fillRect/>
          </a:stretch>
        </p:blipFill>
        <p:spPr>
          <a:xfrm>
            <a:off x="979170" y="1909213"/>
            <a:ext cx="10233660" cy="480822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descr="A screenshot of a computer&#10;&#10;AI-generated content may be incorrect.">
            <a:extLst>
              <a:ext uri="{FF2B5EF4-FFF2-40B4-BE49-F238E27FC236}">
                <a16:creationId xmlns:a16="http://schemas.microsoft.com/office/drawing/2014/main" id="{01F03B58-9BD7-2B00-BF74-E41C67056A63}"/>
              </a:ext>
            </a:extLst>
          </p:cNvPr>
          <p:cNvPicPr>
            <a:picLocks noChangeAspect="1"/>
          </p:cNvPicPr>
          <p:nvPr/>
        </p:nvPicPr>
        <p:blipFill>
          <a:blip r:embed="rId3"/>
          <a:stretch>
            <a:fillRect/>
          </a:stretch>
        </p:blipFill>
        <p:spPr>
          <a:xfrm>
            <a:off x="835874" y="2600749"/>
            <a:ext cx="10363200" cy="391668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descr="A screenshot of a computer&#10;&#10;AI-generated content may be incorrect.">
            <a:extLst>
              <a:ext uri="{FF2B5EF4-FFF2-40B4-BE49-F238E27FC236}">
                <a16:creationId xmlns:a16="http://schemas.microsoft.com/office/drawing/2014/main" id="{4FADC10A-4AD1-F9A4-0D7A-8BB0054CC98F}"/>
              </a:ext>
            </a:extLst>
          </p:cNvPr>
          <p:cNvPicPr>
            <a:picLocks noChangeAspect="1"/>
          </p:cNvPicPr>
          <p:nvPr/>
        </p:nvPicPr>
        <p:blipFill>
          <a:blip r:embed="rId3"/>
          <a:stretch>
            <a:fillRect/>
          </a:stretch>
        </p:blipFill>
        <p:spPr>
          <a:xfrm>
            <a:off x="320982" y="1909213"/>
            <a:ext cx="11550036" cy="485857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descr="A screenshot of a graph&#10;&#10;AI-generated content may be incorrect.">
            <a:extLst>
              <a:ext uri="{FF2B5EF4-FFF2-40B4-BE49-F238E27FC236}">
                <a16:creationId xmlns:a16="http://schemas.microsoft.com/office/drawing/2014/main" id="{EBC27E4B-7856-1F1B-1C30-3417492581BE}"/>
              </a:ext>
            </a:extLst>
          </p:cNvPr>
          <p:cNvPicPr>
            <a:picLocks noChangeAspect="1"/>
          </p:cNvPicPr>
          <p:nvPr/>
        </p:nvPicPr>
        <p:blipFill>
          <a:blip r:embed="rId3"/>
          <a:stretch>
            <a:fillRect/>
          </a:stretch>
        </p:blipFill>
        <p:spPr>
          <a:xfrm>
            <a:off x="609600" y="1948180"/>
            <a:ext cx="10906443" cy="490982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100" dirty="0"/>
              <a:t>This analysis provides a foundational understanding for future investigations and supports decision-making in several ways:</a:t>
            </a:r>
          </a:p>
          <a:p>
            <a:r>
              <a:rPr lang="en-US" sz="1100" b="1" dirty="0"/>
              <a:t>Strategic Crop Planning:</a:t>
            </a:r>
            <a:r>
              <a:rPr lang="en-US" sz="1100" dirty="0"/>
              <a:t> Farmers can use these insights to make more informed decisions about which crops to plant in which season to maximize profitability and minimize risk.</a:t>
            </a:r>
          </a:p>
          <a:p>
            <a:r>
              <a:rPr lang="en-US" sz="1100" b="1" dirty="0"/>
              <a:t>Resource Allocation:</a:t>
            </a:r>
            <a:r>
              <a:rPr lang="en-US" sz="1100" dirty="0"/>
              <a:t> Policymakers and agricultural organizations can use the regional and seasonal performance data to target support programs, investment in irrigation infrastructure, and research efforts more effectively.</a:t>
            </a:r>
          </a:p>
          <a:p>
            <a:r>
              <a:rPr lang="en-US" sz="1100" b="1" dirty="0"/>
              <a:t>Sustainable Practices:</a:t>
            </a:r>
            <a:r>
              <a:rPr lang="en-US" sz="1100" dirty="0"/>
              <a:t> The emphasis on water efficiency can guide initiatives for promoting sustainable farming practices and technology adoption.</a:t>
            </a:r>
          </a:p>
          <a:p>
            <a:r>
              <a:rPr lang="en-US" sz="1100" b="1" dirty="0"/>
              <a:t>Further Research:</a:t>
            </a:r>
            <a:r>
              <a:rPr lang="en-US" sz="1100" dirty="0"/>
              <a:t> The identified patterns and limitations highlight areas for deeper investigation, such as the specific reasons behind Zaid season losses, the cost-benefit analysis of drip irrigation, or the impact of environmental variables on crop-specific yields. It also sets the stage for more advanced predictive modeling.</a:t>
            </a:r>
          </a:p>
          <a:p>
            <a:endParaRPr lang="en-GB" sz="1100" dirty="0">
              <a:latin typeface="Arial" panose="020B0604020202020204" pitchFamily="34" charset="0"/>
              <a:cs typeface="Arial" panose="020B0604020202020204" pitchFamily="34" charset="0"/>
            </a:endParaRP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a:hlinkClick r:id="rId3"/>
              </a:rPr>
              <a:t>https://github.com/harsh0012300-cloud/VOIS-MAJOR-PROJECT.git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extLst>
              <a:ext uri="{FF2B5EF4-FFF2-40B4-BE49-F238E27FC236}">
                <a16:creationId xmlns:a16="http://schemas.microsoft.com/office/drawing/2014/main" id="{0F078071-0038-BE81-5BF3-3FAD3E632367}"/>
              </a:ext>
            </a:extLst>
          </p:cNvPr>
          <p:cNvGraphicFramePr>
            <a:graphicFrameLocks noChangeAspect="1"/>
          </p:cNvGraphicFramePr>
          <p:nvPr>
            <p:extLst>
              <p:ext uri="{D42A27DB-BD31-4B8C-83A1-F6EECF244321}">
                <p14:modId xmlns:p14="http://schemas.microsoft.com/office/powerpoint/2010/main" val="3301828693"/>
              </p:ext>
            </p:extLst>
          </p:nvPr>
        </p:nvGraphicFramePr>
        <p:xfrm>
          <a:off x="1747519" y="1480358"/>
          <a:ext cx="6415088" cy="4533900"/>
        </p:xfrm>
        <a:graphic>
          <a:graphicData uri="http://schemas.openxmlformats.org/presentationml/2006/ole">
            <mc:AlternateContent xmlns:mc="http://schemas.openxmlformats.org/markup-compatibility/2006">
              <mc:Choice xmlns:v="urn:schemas-microsoft-com:vml" Requires="v">
                <p:oleObj name="Acrobat Document" r:id="rId3" imgW="6415686" imgH="4533492" progId="Acrobat.Document.DC">
                  <p:embed/>
                </p:oleObj>
              </mc:Choice>
              <mc:Fallback>
                <p:oleObj name="Acrobat Document" r:id="rId3" imgW="6415686" imgH="4533492" progId="Acrobat.Document.DC">
                  <p:embed/>
                  <p:pic>
                    <p:nvPicPr>
                      <p:cNvPr id="0" name=""/>
                      <p:cNvPicPr/>
                      <p:nvPr/>
                    </p:nvPicPr>
                    <p:blipFill>
                      <a:blip r:embed="rId4"/>
                      <a:stretch>
                        <a:fillRect/>
                      </a:stretch>
                    </p:blipFill>
                    <p:spPr>
                      <a:xfrm>
                        <a:off x="1747519" y="1480358"/>
                        <a:ext cx="6415088" cy="4533900"/>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fontScale="250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1200" dirty="0">
                <a:solidFill>
                  <a:schemeClr val="tx1"/>
                </a:solidFill>
              </a:rPr>
              <a:t>AICTE STU ID : </a:t>
            </a:r>
            <a:r>
              <a:rPr lang="en-GB" sz="11200" dirty="0">
                <a:solidFill>
                  <a:schemeClr val="tx1"/>
                </a:solidFill>
                <a:latin typeface="Arial" panose="020B0604020202020204" pitchFamily="34" charset="0"/>
                <a:cs typeface="Arial" panose="020B0604020202020204" pitchFamily="34" charset="0"/>
              </a:rPr>
              <a:t>STU666a218d488df1718231437</a:t>
            </a:r>
          </a:p>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Autofit/>
          </a:bodyPr>
          <a:lstStyle/>
          <a:p>
            <a:pPr algn="r"/>
            <a:r>
              <a:rPr lang="en-US" b="0" dirty="0">
                <a:solidFill>
                  <a:schemeClr val="tx1"/>
                </a:solidFill>
              </a:rPr>
              <a:t>[Student Name- Harsh Sharma </a:t>
            </a:r>
            <a:endParaRPr lang="en-IN" b="0" dirty="0">
              <a:solidFill>
                <a:schemeClr val="tx1"/>
              </a:solidFill>
            </a:endParaRPr>
          </a:p>
          <a:p>
            <a:pPr algn="r"/>
            <a:r>
              <a:rPr lang="en-US" b="0" dirty="0">
                <a:solidFill>
                  <a:schemeClr val="tx1"/>
                </a:solidFill>
              </a:rPr>
              <a:t>College Name-Institute of Technology &amp; Science ]</a:t>
            </a:r>
            <a:endParaRPr lang="en-IN" b="0" dirty="0">
              <a:solidFill>
                <a:schemeClr val="tx1"/>
              </a:solidFill>
            </a:endParaRP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1694</TotalTime>
  <Words>1290</Words>
  <Application>Microsoft Office PowerPoint</Application>
  <PresentationFormat>Widescreen</PresentationFormat>
  <Paragraphs>154</Paragraphs>
  <Slides>14</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2" baseType="lpstr">
      <vt:lpstr>Arial</vt:lpstr>
      <vt:lpstr>Calibri</vt:lpstr>
      <vt:lpstr>Google Sans Text</vt:lpstr>
      <vt:lpstr>Trebuchet MS</vt:lpstr>
      <vt:lpstr>Wingdings</vt:lpstr>
      <vt:lpstr>Wingdings 3</vt:lpstr>
      <vt:lpstr>Facet</vt:lpstr>
      <vt:lpstr>Acrobat Document</vt:lpstr>
      <vt:lpstr>Project Title – Seasonal Agriculture Performance Data Analytics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Harsh Sharma</dc:creator>
  <cp:lastModifiedBy>ssd_user</cp:lastModifiedBy>
  <cp:revision>104</cp:revision>
  <dcterms:created xsi:type="dcterms:W3CDTF">2021-07-11T13:13:15Z</dcterms:created>
  <dcterms:modified xsi:type="dcterms:W3CDTF">2026-09-09T18:17:21Z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